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embeddedFontLst>
    <p:embeddedFont>
      <p:font typeface="Average"/>
      <p:regular r:id="rId38"/>
    </p:embeddedFont>
    <p:embeddedFont>
      <p:font typeface="Oswald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swald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Oswald-regular.fntdata"/><Relationship Id="rId16" Type="http://schemas.openxmlformats.org/officeDocument/2006/relationships/slide" Target="slides/slide11.xml"/><Relationship Id="rId38" Type="http://schemas.openxmlformats.org/officeDocument/2006/relationships/font" Target="fonts/Average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3eb44629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3eb44629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4022af500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4022af500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4022af50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4022af50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4022af500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4022af500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4022af500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4022af500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4022af500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4022af500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4022af500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4022af500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4022af500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4022af500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4022af500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4022af500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4022af500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4022af500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c8921714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c8921714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ce27c461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ce27c461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ce27c461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ce27c461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ce27c4612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ce27c461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ce27c4612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ce27c461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d3bd538a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d3bd538a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cf285d8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cf285d8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3fbc344d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3fbc344d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3fbc344d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a3fbc344d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3fbc344d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3fbc344d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3fbc344d2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a3fbc344d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3fbc344d2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a3fbc344d2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3fbc344d2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a3fbc344d2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3fbc344d2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a3fbc344d2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3fbc344d2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a3fbc344d2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a3fbc344d2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a3fbc344d2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3fbc344d2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a3fbc344d2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3fbc344d2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a3fbc344d2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a3fbc344d2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a3fbc344d2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a3fbc344d2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a3fbc344d2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3fbc344d2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a3fbc344d2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0.png"/><Relationship Id="rId7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Hardening CrackMe Binaries Against Reverse Engineering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Bryce, Sami, and Maryam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our project is about</a:t>
            </a:r>
            <a:endParaRPr/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7925" y="1017725"/>
            <a:ext cx="6031833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state of Crackme0x01 -Bryce</a:t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7350" y="1125825"/>
            <a:ext cx="522929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concept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2155650"/>
            <a:ext cx="8520600" cy="8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/>
              <a:t>There </a:t>
            </a:r>
            <a:r>
              <a:rPr lang="en" sz="2500"/>
              <a:t>can only be one active debugger at a time</a:t>
            </a:r>
            <a:endParaRPr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1: The Fork 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480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Program calls fork to create a </a:t>
            </a:r>
            <a:r>
              <a:rPr lang="en"/>
              <a:t>parent</a:t>
            </a:r>
            <a:r>
              <a:rPr lang="en"/>
              <a:t> and child process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Child</a:t>
            </a:r>
            <a:r>
              <a:rPr lang="en"/>
              <a:t> (tracee): runs actual program logic (</a:t>
            </a:r>
            <a:r>
              <a:rPr lang="en"/>
              <a:t>password</a:t>
            </a:r>
            <a:r>
              <a:rPr lang="en"/>
              <a:t> check)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Parent</a:t>
            </a:r>
            <a:r>
              <a:rPr lang="en"/>
              <a:t> (tracer): runs self debugging logic and modifies the child code </a:t>
            </a:r>
            <a:r>
              <a:rPr lang="en"/>
              <a:t>through</a:t>
            </a:r>
            <a:r>
              <a:rPr lang="en"/>
              <a:t> fixing correcting syscall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Purpose</a:t>
            </a:r>
            <a:r>
              <a:rPr lang="en"/>
              <a:t>: a process cannot debug itself, but a </a:t>
            </a:r>
            <a:r>
              <a:rPr lang="en"/>
              <a:t>parent</a:t>
            </a:r>
            <a:r>
              <a:rPr lang="en"/>
              <a:t> process can.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2975" y="1408612"/>
            <a:ext cx="4031025" cy="232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2: The child 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2683575"/>
            <a:ext cx="8520600" cy="18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The child must first allow the </a:t>
            </a:r>
            <a:r>
              <a:rPr lang="en" sz="2200"/>
              <a:t>parent</a:t>
            </a:r>
            <a:r>
              <a:rPr lang="en" sz="2200"/>
              <a:t> to trace it by calling the command “ptrace(PTRACE_TRACEME)” </a:t>
            </a:r>
            <a:endParaRPr sz="22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200"/>
              <a:t>The child then waits for the </a:t>
            </a:r>
            <a:r>
              <a:rPr lang="en" sz="2200"/>
              <a:t>parent</a:t>
            </a:r>
            <a:r>
              <a:rPr lang="en" sz="2200"/>
              <a:t> to sync up so there is not a race condition  </a:t>
            </a:r>
            <a:r>
              <a:rPr lang="en"/>
              <a:t>  </a:t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3000" y="1093413"/>
            <a:ext cx="6657975" cy="151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378250"/>
            <a:ext cx="3728400" cy="41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</a:t>
            </a:r>
            <a:r>
              <a:rPr lang="en" sz="2000"/>
              <a:t>ext the child process runs the </a:t>
            </a:r>
            <a:r>
              <a:rPr lang="en" sz="2000"/>
              <a:t>sensitive</a:t>
            </a:r>
            <a:r>
              <a:rPr lang="en" sz="2000"/>
              <a:t> code (if passwd == 0xc8e)).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If correct we call syscall 10000 which is an invalid syscall </a:t>
            </a:r>
            <a:endParaRPr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This pauses the process where under normal </a:t>
            </a:r>
            <a:r>
              <a:rPr lang="en" sz="1600"/>
              <a:t>circumstances</a:t>
            </a:r>
            <a:r>
              <a:rPr lang="en" sz="1600"/>
              <a:t> the OS would pause process. </a:t>
            </a:r>
            <a:endParaRPr sz="1600"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0114" y="378250"/>
            <a:ext cx="5006711" cy="21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0125" y="3252025"/>
            <a:ext cx="5006700" cy="1175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3: The </a:t>
            </a:r>
            <a:r>
              <a:rPr lang="en"/>
              <a:t>parent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Because of the one debugger rule, this </a:t>
            </a:r>
            <a:r>
              <a:rPr lang="en"/>
              <a:t>parent</a:t>
            </a:r>
            <a:r>
              <a:rPr lang="en"/>
              <a:t> process can only run if it is not in a debugger.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</a:t>
            </a:r>
            <a:r>
              <a:rPr lang="en"/>
              <a:t>he parent process waits for the OS to notify it that the child has paused</a:t>
            </a:r>
            <a:r>
              <a:rPr lang="en"/>
              <a:t> 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Waitpid(child_pid, &amp;status, 0);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It reads the CPU registers and checks for the invalid syscall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If regs.orig_rax == 1000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If this thread is not in a debugger then the </a:t>
            </a:r>
            <a:r>
              <a:rPr lang="en"/>
              <a:t>parent</a:t>
            </a:r>
            <a:r>
              <a:rPr lang="en"/>
              <a:t> thread will fix the syscall error by changing  the syscall 10000 to a syscall 1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This is that makes the code self modifying</a:t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7700" y="741075"/>
            <a:ext cx="3704600" cy="42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Trying to crack in GDB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69306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verify by opening in GDB and trying to debug the file.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GDB occupies the single debugger slot when we put the correct password in.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process fails silently and “Password OK” is not printed. </a:t>
            </a:r>
            <a:endParaRPr/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112" y="2882550"/>
            <a:ext cx="7542888" cy="226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bypass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Because this trick only effects dynamic </a:t>
            </a:r>
            <a:r>
              <a:rPr lang="en" sz="2000"/>
              <a:t>analysis (such as GDB). static analysis like strings or Ghidra is not affected. </a:t>
            </a: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Therefore we can see the full code in Ghidra.</a:t>
            </a:r>
            <a:endParaRPr sz="2000"/>
          </a:p>
        </p:txBody>
      </p:sp>
      <p:pic>
        <p:nvPicPr>
          <p:cNvPr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170125"/>
            <a:ext cx="4267201" cy="3174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Impact</a:t>
            </a:r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52475"/>
            <a:ext cx="376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is a performance cost from calling ptrace(PTRACE_SYSCALL) to monitor the child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tells the OS to pause the child every single call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observed at least a 50% performance cost for this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performance cost is observed in some games which use DRM (</a:t>
            </a:r>
            <a:r>
              <a:rPr lang="en"/>
              <a:t>obfuscation</a:t>
            </a:r>
            <a:r>
              <a:rPr lang="en"/>
              <a:t>) </a:t>
            </a:r>
            <a:endParaRPr/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7600" y="1170125"/>
            <a:ext cx="4764000" cy="2348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Sami - Crackme0x02</a:t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 Summary: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Prints intro + prompts for password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Reads integer input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Computes: passwd * 0x159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Compares result to 0x122c1c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equal → “Password OK :)”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Else → “Invalid Password!”</a:t>
            </a:r>
            <a:endParaRPr/>
          </a:p>
        </p:txBody>
      </p:sp>
      <p:pic>
        <p:nvPicPr>
          <p:cNvPr id="134" name="Google Shape;13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184713"/>
            <a:ext cx="3873625" cy="99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7300" y="2483374"/>
            <a:ext cx="2857499" cy="754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17300" y="3144622"/>
            <a:ext cx="2857500" cy="963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17300" y="4077100"/>
            <a:ext cx="2857500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36225" y="0"/>
            <a:ext cx="2398926" cy="248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This Is Insecure</a:t>
            </a:r>
            <a:endParaRPr/>
          </a:p>
        </p:txBody>
      </p:sp>
      <p:sp>
        <p:nvSpPr>
          <p:cNvPr id="144" name="Google Shape;14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Math constants plainly visible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Straight-line logic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decoys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anti-debugging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compiler hardening flags</a:t>
            </a:r>
            <a:endParaRPr/>
          </a:p>
        </p:txBody>
      </p:sp>
      <p:pic>
        <p:nvPicPr>
          <p:cNvPr id="145" name="Google Shape;145;p25"/>
          <p:cNvPicPr preferRelativeResize="0"/>
          <p:nvPr/>
        </p:nvPicPr>
        <p:blipFill rotWithShape="1">
          <a:blip r:embed="rId3">
            <a:alphaModFix/>
          </a:blip>
          <a:srcRect b="0" l="0" r="23634" t="0"/>
          <a:stretch/>
        </p:blipFill>
        <p:spPr>
          <a:xfrm>
            <a:off x="3980507" y="2267500"/>
            <a:ext cx="2407694" cy="287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5"/>
          <p:cNvPicPr preferRelativeResize="0"/>
          <p:nvPr/>
        </p:nvPicPr>
        <p:blipFill rotWithShape="1">
          <a:blip r:embed="rId4">
            <a:alphaModFix/>
          </a:blip>
          <a:srcRect b="0" l="12541" r="0" t="0"/>
          <a:stretch/>
        </p:blipFill>
        <p:spPr>
          <a:xfrm>
            <a:off x="6388200" y="2267500"/>
            <a:ext cx="2755800" cy="287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25"/>
          <p:cNvCxnSpPr/>
          <p:nvPr/>
        </p:nvCxnSpPr>
        <p:spPr>
          <a:xfrm>
            <a:off x="5093025" y="3998575"/>
            <a:ext cx="319200" cy="3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25"/>
          <p:cNvCxnSpPr/>
          <p:nvPr/>
        </p:nvCxnSpPr>
        <p:spPr>
          <a:xfrm>
            <a:off x="5095875" y="3920500"/>
            <a:ext cx="229500" cy="1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 1 Hardening (Compiler-Level)</a:t>
            </a:r>
            <a:endParaRPr/>
          </a:p>
        </p:txBody>
      </p:sp>
      <p:sp>
        <p:nvSpPr>
          <p:cNvPr id="154" name="Google Shape;15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Techniques Applied: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Symbol stripping (via strip command)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strip crackme0x02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Position Independent Executable (PIE)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gcc -fPIE -pie [target-file.c] -o [output-file]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Stack Protector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gcc -fstack-protector-all -fPIE -pie [target-file.c] -o [output-file]</a:t>
            </a:r>
            <a:endParaRPr/>
          </a:p>
        </p:txBody>
      </p:sp>
      <p:pic>
        <p:nvPicPr>
          <p:cNvPr id="155" name="Google Shape;15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009725"/>
            <a:ext cx="7369524" cy="113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6"/>
          <p:cNvPicPr preferRelativeResize="0"/>
          <p:nvPr/>
        </p:nvPicPr>
        <p:blipFill rotWithShape="1">
          <a:blip r:embed="rId4">
            <a:alphaModFix/>
          </a:blip>
          <a:srcRect b="10352" l="0" r="0" t="7220"/>
          <a:stretch/>
        </p:blipFill>
        <p:spPr>
          <a:xfrm>
            <a:off x="5132100" y="1628475"/>
            <a:ext cx="2552700" cy="36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/>
          <p:cNvPicPr preferRelativeResize="0"/>
          <p:nvPr/>
        </p:nvPicPr>
        <p:blipFill rotWithShape="1">
          <a:blip r:embed="rId5">
            <a:alphaModFix/>
          </a:blip>
          <a:srcRect b="10225" l="0" r="0" t="0"/>
          <a:stretch/>
        </p:blipFill>
        <p:spPr>
          <a:xfrm>
            <a:off x="5132100" y="1997450"/>
            <a:ext cx="4011900" cy="53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</a:t>
            </a:r>
            <a:r>
              <a:rPr lang="en"/>
              <a:t> of Level 1 Hardening</a:t>
            </a:r>
            <a:endParaRPr/>
          </a:p>
        </p:txBody>
      </p:sp>
      <p:sp>
        <p:nvSpPr>
          <p:cNvPr id="163" name="Google Shape;16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Difficulty rating - Low/Medium: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Debugging is less convenient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Ghidra reconstruction slightly noisier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overall logic still trivial to recover</a:t>
            </a:r>
            <a:endParaRPr/>
          </a:p>
        </p:txBody>
      </p:sp>
      <p:pic>
        <p:nvPicPr>
          <p:cNvPr id="164" name="Google Shape;16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3825" y="1477125"/>
            <a:ext cx="3690175" cy="366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 2 Hardening (Code Obfuscation)</a:t>
            </a:r>
            <a:endParaRPr/>
          </a:p>
        </p:txBody>
      </p:sp>
      <p:sp>
        <p:nvSpPr>
          <p:cNvPr id="170" name="Google Shape;17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Techniques Applied: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Decoy comparisons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Reverser must trace dataflow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Fake </a:t>
            </a:r>
            <a:r>
              <a:rPr lang="en"/>
              <a:t>success</a:t>
            </a:r>
            <a:r>
              <a:rPr lang="en"/>
              <a:t> branches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Can't rely on first “correct” branch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Misleading password logic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Password no longer readable by scanning constants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(void)junk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Prevents the compiler from removing unused </a:t>
            </a:r>
            <a:r>
              <a:rPr lang="en"/>
              <a:t>variables.</a:t>
            </a:r>
            <a:endParaRPr/>
          </a:p>
        </p:txBody>
      </p:sp>
      <p:pic>
        <p:nvPicPr>
          <p:cNvPr id="171" name="Google Shape;17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9875" y="-2"/>
            <a:ext cx="2984125" cy="98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5525" y="2619580"/>
            <a:ext cx="3098476" cy="871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24650" y="2067125"/>
            <a:ext cx="24193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8"/>
          <p:cNvPicPr preferRelativeResize="0"/>
          <p:nvPr/>
        </p:nvPicPr>
        <p:blipFill rotWithShape="1">
          <a:blip r:embed="rId6">
            <a:alphaModFix/>
          </a:blip>
          <a:srcRect b="21445" l="2903" r="0" t="0"/>
          <a:stretch/>
        </p:blipFill>
        <p:spPr>
          <a:xfrm>
            <a:off x="6045525" y="3491025"/>
            <a:ext cx="3098475" cy="109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45527" y="4568875"/>
            <a:ext cx="3098475" cy="552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 of Level 2 Hardening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Difficulty rating - Medium: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Requires more experience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Requires stepping through branches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Obscures the “obvious math solution”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Still breakable, but much slower compared to Level 1.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8025" y="2286850"/>
            <a:ext cx="2165975" cy="285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1800" y="3118450"/>
            <a:ext cx="1956225" cy="202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Maryam</a:t>
            </a:r>
            <a:r>
              <a:rPr lang="en"/>
              <a:t> - Crackme0x03</a:t>
            </a:r>
            <a:endParaRPr/>
          </a:p>
        </p:txBody>
      </p:sp>
      <p:sp>
        <p:nvSpPr>
          <p:cNvPr id="189" name="Google Shape;189;p30"/>
          <p:cNvSpPr txBox="1"/>
          <p:nvPr>
            <p:ph idx="1" type="body"/>
          </p:nvPr>
        </p:nvSpPr>
        <p:spPr>
          <a:xfrm>
            <a:off x="311700" y="1152475"/>
            <a:ext cx="4917300" cy="38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goal of my part of the project was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Understand the original CrackMe 0x03 behavior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Reverse engineer it with Ghidra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 all the weaknesses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Rewrite it myself in 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start hardening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My main goal was to hide the password and hide the messages so they do not show up anywhere in the binary.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p30" title="reverse-engineering-what-it-is-and-how-it-work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9075" y="640494"/>
            <a:ext cx="3731925" cy="24896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 Behavior (Original Program)</a:t>
            </a:r>
            <a:endParaRPr/>
          </a:p>
        </p:txBody>
      </p:sp>
      <p:sp>
        <p:nvSpPr>
          <p:cNvPr id="196" name="Google Shape;196;p31"/>
          <p:cNvSpPr txBox="1"/>
          <p:nvPr>
            <p:ph idx="1" type="body"/>
          </p:nvPr>
        </p:nvSpPr>
        <p:spPr>
          <a:xfrm>
            <a:off x="311700" y="1066600"/>
            <a:ext cx="4844100" cy="3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Here is what the original CrackMe does</a:t>
            </a:r>
            <a:br>
              <a:rPr lang="en"/>
            </a:br>
            <a:r>
              <a:rPr lang="en"/>
              <a:t> • Prints a banner</a:t>
            </a:r>
            <a:br>
              <a:rPr lang="en"/>
            </a:br>
            <a:r>
              <a:rPr lang="en"/>
              <a:t> • Asks for an integer password</a:t>
            </a:r>
            <a:br>
              <a:rPr lang="en"/>
            </a:br>
            <a:r>
              <a:rPr lang="en"/>
              <a:t> • Compares the password directly to the constant 0x52b23</a:t>
            </a:r>
            <a:br>
              <a:rPr lang="en"/>
            </a:br>
            <a:r>
              <a:rPr lang="en"/>
              <a:t> • If it matches it prints “Password OK!!! :)”</a:t>
            </a:r>
            <a:br>
              <a:rPr lang="en"/>
            </a:br>
            <a:r>
              <a:rPr lang="en"/>
              <a:t> • If it doesn’t it prints “Invalid Password”</a:t>
            </a:r>
            <a:br>
              <a:rPr lang="en"/>
            </a:br>
            <a:r>
              <a:rPr lang="en"/>
              <a:t> • Everything is extremely easy to see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Ghidra the original main function literally shows</a:t>
            </a:r>
            <a:br>
              <a:rPr lang="en"/>
            </a:br>
            <a:r>
              <a:rPr lang="en"/>
              <a:t> if (password == 0x52b23)</a:t>
            </a:r>
            <a:endParaRPr/>
          </a:p>
        </p:txBody>
      </p:sp>
      <p:pic>
        <p:nvPicPr>
          <p:cNvPr id="197" name="Google Shape;197;p31"/>
          <p:cNvPicPr preferRelativeResize="0"/>
          <p:nvPr/>
        </p:nvPicPr>
        <p:blipFill rotWithShape="1">
          <a:blip r:embed="rId3">
            <a:alphaModFix/>
          </a:blip>
          <a:srcRect b="0" l="0" r="29557" t="0"/>
          <a:stretch/>
        </p:blipFill>
        <p:spPr>
          <a:xfrm>
            <a:off x="5059225" y="1213200"/>
            <a:ext cx="3870800" cy="251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the Original Is Insecure</a:t>
            </a:r>
            <a:endParaRPr/>
          </a:p>
        </p:txBody>
      </p:sp>
      <p:sp>
        <p:nvSpPr>
          <p:cNvPr id="203" name="Google Shape;203;p32"/>
          <p:cNvSpPr txBox="1"/>
          <p:nvPr>
            <p:ph idx="1" type="body"/>
          </p:nvPr>
        </p:nvSpPr>
        <p:spPr>
          <a:xfrm>
            <a:off x="311700" y="1017725"/>
            <a:ext cx="4978500" cy="38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9725" lvl="0" marL="457200" rtl="0" algn="l">
              <a:spcBef>
                <a:spcPts val="1200"/>
              </a:spcBef>
              <a:spcAft>
                <a:spcPts val="0"/>
              </a:spcAft>
              <a:buSzPts val="1750"/>
              <a:buChar char="●"/>
            </a:pPr>
            <a:r>
              <a:rPr lang="en" sz="1750"/>
              <a:t>Why the baseline CrackMe is insecure</a:t>
            </a:r>
            <a:br>
              <a:rPr lang="en" sz="1750"/>
            </a:br>
            <a:r>
              <a:rPr lang="en" sz="1750"/>
              <a:t> • The OK and FAIL messages appear as normal strings</a:t>
            </a:r>
            <a:br>
              <a:rPr lang="en" sz="1750"/>
            </a:br>
            <a:r>
              <a:rPr lang="en" sz="1750"/>
              <a:t> • The password constant 0x52b23 is directly visible</a:t>
            </a:r>
            <a:br>
              <a:rPr lang="en" sz="1750"/>
            </a:br>
            <a:r>
              <a:rPr lang="en" sz="1750"/>
              <a:t> • Nothing is encoded or hidden</a:t>
            </a:r>
            <a:br>
              <a:rPr lang="en" sz="1750"/>
            </a:br>
            <a:r>
              <a:rPr lang="en" sz="1750"/>
              <a:t> • The program flow is super obvious</a:t>
            </a:r>
            <a:br>
              <a:rPr lang="en" sz="1750"/>
            </a:br>
            <a:r>
              <a:rPr lang="en" sz="1750"/>
              <a:t> • Anyone can reverse it in under a minute</a:t>
            </a:r>
            <a:endParaRPr sz="1750"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ts val="1750"/>
              <a:buChar char="●"/>
            </a:pPr>
            <a:r>
              <a:rPr lang="en" sz="1750"/>
              <a:t>This means a beginner can solve it just by opening it in Ghidra and looking at the decompiled main function.</a:t>
            </a:r>
            <a:endParaRPr sz="17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</p:txBody>
      </p:sp>
      <p:pic>
        <p:nvPicPr>
          <p:cNvPr id="204" name="Google Shape;204;p32" title="Screenshot 2025-12-03 at 9.23.30 AM.png"/>
          <p:cNvPicPr preferRelativeResize="0"/>
          <p:nvPr/>
        </p:nvPicPr>
        <p:blipFill rotWithShape="1">
          <a:blip r:embed="rId3">
            <a:alphaModFix/>
          </a:blip>
          <a:srcRect b="37057" l="0" r="31323" t="11214"/>
          <a:stretch/>
        </p:blipFill>
        <p:spPr>
          <a:xfrm>
            <a:off x="5494600" y="0"/>
            <a:ext cx="3649400" cy="28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Hardening Approach Overview</a:t>
            </a:r>
            <a:endParaRPr/>
          </a:p>
        </p:txBody>
      </p:sp>
      <p:sp>
        <p:nvSpPr>
          <p:cNvPr id="210" name="Google Shape;210;p33"/>
          <p:cNvSpPr txBox="1"/>
          <p:nvPr>
            <p:ph idx="1" type="body"/>
          </p:nvPr>
        </p:nvSpPr>
        <p:spPr>
          <a:xfrm>
            <a:off x="311700" y="1152475"/>
            <a:ext cx="50883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337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lang="en" sz="1650">
                <a:solidFill>
                  <a:schemeClr val="dk1"/>
                </a:solidFill>
              </a:rPr>
              <a:t>My plan to harden the program was</a:t>
            </a:r>
            <a:br>
              <a:rPr lang="en" sz="1650">
                <a:solidFill>
                  <a:schemeClr val="dk1"/>
                </a:solidFill>
              </a:rPr>
            </a:br>
            <a:r>
              <a:rPr lang="en" sz="1650">
                <a:solidFill>
                  <a:schemeClr val="dk1"/>
                </a:solidFill>
              </a:rPr>
              <a:t> • Remove every readable message</a:t>
            </a:r>
            <a:br>
              <a:rPr lang="en" sz="1650">
                <a:solidFill>
                  <a:schemeClr val="dk1"/>
                </a:solidFill>
              </a:rPr>
            </a:br>
            <a:r>
              <a:rPr lang="en" sz="1650">
                <a:solidFill>
                  <a:schemeClr val="dk1"/>
                </a:solidFill>
              </a:rPr>
              <a:t> • Encode the success and fail messages with XOR</a:t>
            </a:r>
            <a:br>
              <a:rPr lang="en" sz="1650">
                <a:solidFill>
                  <a:schemeClr val="dk1"/>
                </a:solidFill>
              </a:rPr>
            </a:br>
            <a:r>
              <a:rPr lang="en" sz="1650">
                <a:solidFill>
                  <a:schemeClr val="dk1"/>
                </a:solidFill>
              </a:rPr>
              <a:t> • Decode them only when needed</a:t>
            </a:r>
            <a:br>
              <a:rPr lang="en" sz="1650">
                <a:solidFill>
                  <a:schemeClr val="dk1"/>
                </a:solidFill>
              </a:rPr>
            </a:br>
            <a:r>
              <a:rPr lang="en" sz="1650">
                <a:solidFill>
                  <a:schemeClr val="dk1"/>
                </a:solidFill>
              </a:rPr>
              <a:t> • Hide the password check behind a transform function</a:t>
            </a:r>
            <a:br>
              <a:rPr lang="en" sz="1650">
                <a:solidFill>
                  <a:schemeClr val="dk1"/>
                </a:solidFill>
              </a:rPr>
            </a:br>
            <a:r>
              <a:rPr lang="en" sz="1650">
                <a:solidFill>
                  <a:schemeClr val="dk1"/>
                </a:solidFill>
              </a:rPr>
              <a:t> • Use volatile so compiler doesn’t undo my encoding</a:t>
            </a:r>
            <a:br>
              <a:rPr lang="en" sz="1650">
                <a:solidFill>
                  <a:schemeClr val="dk1"/>
                </a:solidFill>
              </a:rPr>
            </a:br>
            <a:r>
              <a:rPr lang="en" sz="1650">
                <a:solidFill>
                  <a:schemeClr val="dk1"/>
                </a:solidFill>
              </a:rPr>
              <a:t> • Keep some old functions as extra noise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lang="en" sz="1650">
                <a:solidFill>
                  <a:schemeClr val="dk1"/>
                </a:solidFill>
              </a:rPr>
              <a:t>This way the binary looks more confusing and the answer is not just sitting there.</a:t>
            </a:r>
            <a:endParaRPr sz="16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</a:endParaRPr>
          </a:p>
        </p:txBody>
      </p:sp>
      <p:pic>
        <p:nvPicPr>
          <p:cNvPr id="211" name="Google Shape;211;p33" title="Screenshot 2025-12-03 at 3.33.01 PM.png"/>
          <p:cNvPicPr preferRelativeResize="0"/>
          <p:nvPr/>
        </p:nvPicPr>
        <p:blipFill rotWithShape="1">
          <a:blip r:embed="rId3">
            <a:alphaModFix/>
          </a:blip>
          <a:srcRect b="0" l="0" r="48961" t="0"/>
          <a:stretch/>
        </p:blipFill>
        <p:spPr>
          <a:xfrm>
            <a:off x="5311800" y="1152475"/>
            <a:ext cx="3832200" cy="2106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Technique 1: XOR String Obfuscation</a:t>
            </a:r>
            <a:endParaRPr/>
          </a:p>
        </p:txBody>
      </p:sp>
      <p:sp>
        <p:nvSpPr>
          <p:cNvPr id="217" name="Google Shape;217;p34"/>
          <p:cNvSpPr txBox="1"/>
          <p:nvPr>
            <p:ph idx="1" type="body"/>
          </p:nvPr>
        </p:nvSpPr>
        <p:spPr>
          <a:xfrm>
            <a:off x="140650" y="1103600"/>
            <a:ext cx="4893000" cy="37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607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50"/>
              <a:buChar char="●"/>
            </a:pPr>
            <a:r>
              <a:rPr lang="en" sz="1850">
                <a:solidFill>
                  <a:schemeClr val="dk1"/>
                </a:solidFill>
              </a:rPr>
              <a:t>First technique I used: XOR encoding the strings</a:t>
            </a:r>
            <a:br>
              <a:rPr lang="en" sz="1850">
                <a:solidFill>
                  <a:schemeClr val="dk1"/>
                </a:solidFill>
              </a:rPr>
            </a:br>
            <a:r>
              <a:rPr lang="en" sz="1850">
                <a:solidFill>
                  <a:schemeClr val="dk1"/>
                </a:solidFill>
              </a:rPr>
              <a:t> • Instead of storing the messages in plaintext</a:t>
            </a:r>
            <a:br>
              <a:rPr lang="en" sz="1850">
                <a:solidFill>
                  <a:schemeClr val="dk1"/>
                </a:solidFill>
              </a:rPr>
            </a:br>
            <a:r>
              <a:rPr lang="en" sz="1850">
                <a:solidFill>
                  <a:schemeClr val="dk1"/>
                </a:solidFill>
              </a:rPr>
              <a:t> • I encoded every character as char ^ 0x37</a:t>
            </a:r>
            <a:br>
              <a:rPr lang="en" sz="1850">
                <a:solidFill>
                  <a:schemeClr val="dk1"/>
                </a:solidFill>
              </a:rPr>
            </a:br>
            <a:r>
              <a:rPr lang="en" sz="1850">
                <a:solidFill>
                  <a:schemeClr val="dk1"/>
                </a:solidFill>
              </a:rPr>
              <a:t> • The real messages no longer appear in the compiled binary</a:t>
            </a:r>
            <a:br>
              <a:rPr lang="en" sz="1850">
                <a:solidFill>
                  <a:schemeClr val="dk1"/>
                </a:solidFill>
              </a:rPr>
            </a:br>
            <a:r>
              <a:rPr lang="en" sz="1850">
                <a:solidFill>
                  <a:schemeClr val="dk1"/>
                </a:solidFill>
              </a:rPr>
              <a:t> • If someone runs the strings command they see nothing useful</a:t>
            </a:r>
            <a:endParaRPr sz="1850">
              <a:solidFill>
                <a:schemeClr val="dk1"/>
              </a:solidFill>
            </a:endParaRPr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Char char="●"/>
            </a:pPr>
            <a:r>
              <a:rPr lang="en" sz="1850">
                <a:solidFill>
                  <a:schemeClr val="dk1"/>
                </a:solidFill>
              </a:rPr>
              <a:t>This removes the easiest way to reverse the program.</a:t>
            </a:r>
            <a:endParaRPr sz="18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</p:txBody>
      </p:sp>
      <p:pic>
        <p:nvPicPr>
          <p:cNvPr id="218" name="Google Shape;218;p34" title="Screenshot 2025-12-03 at 3.54.24 PM.png"/>
          <p:cNvPicPr preferRelativeResize="0"/>
          <p:nvPr/>
        </p:nvPicPr>
        <p:blipFill rotWithShape="1">
          <a:blip r:embed="rId3">
            <a:alphaModFix/>
          </a:blip>
          <a:srcRect b="0" l="0" r="14434" t="37398"/>
          <a:stretch/>
        </p:blipFill>
        <p:spPr>
          <a:xfrm>
            <a:off x="5033650" y="1651924"/>
            <a:ext cx="4110349" cy="1915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Technique 2: Runtime Decode Function</a:t>
            </a:r>
            <a:endParaRPr/>
          </a:p>
        </p:txBody>
      </p:sp>
      <p:sp>
        <p:nvSpPr>
          <p:cNvPr id="224" name="Google Shape;224;p35"/>
          <p:cNvSpPr txBox="1"/>
          <p:nvPr>
            <p:ph idx="1" type="body"/>
          </p:nvPr>
        </p:nvSpPr>
        <p:spPr>
          <a:xfrm>
            <a:off x="140650" y="1103600"/>
            <a:ext cx="4893000" cy="37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607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50"/>
              <a:buChar char="●"/>
            </a:pPr>
            <a:r>
              <a:rPr lang="en" sz="1850">
                <a:solidFill>
                  <a:schemeClr val="dk1"/>
                </a:solidFill>
              </a:rPr>
              <a:t>Second technique: decoding the strings at runtime</a:t>
            </a:r>
            <a:br>
              <a:rPr lang="en" sz="1850">
                <a:solidFill>
                  <a:schemeClr val="dk1"/>
                </a:solidFill>
              </a:rPr>
            </a:br>
            <a:r>
              <a:rPr lang="en" sz="1850">
                <a:solidFill>
                  <a:schemeClr val="dk1"/>
                </a:solidFill>
              </a:rPr>
              <a:t> • I wrote a print_decoded() function</a:t>
            </a:r>
            <a:br>
              <a:rPr lang="en" sz="1850">
                <a:solidFill>
                  <a:schemeClr val="dk1"/>
                </a:solidFill>
              </a:rPr>
            </a:br>
            <a:r>
              <a:rPr lang="en" sz="1850">
                <a:solidFill>
                  <a:schemeClr val="dk1"/>
                </a:solidFill>
              </a:rPr>
              <a:t> • It takes the encoded bytes and XORs them back</a:t>
            </a:r>
            <a:br>
              <a:rPr lang="en" sz="1850">
                <a:solidFill>
                  <a:schemeClr val="dk1"/>
                </a:solidFill>
              </a:rPr>
            </a:br>
            <a:r>
              <a:rPr lang="en" sz="1850">
                <a:solidFill>
                  <a:schemeClr val="dk1"/>
                </a:solidFill>
              </a:rPr>
              <a:t> • The real text only exists in RAM for a moment</a:t>
            </a:r>
            <a:br>
              <a:rPr lang="en" sz="1850">
                <a:solidFill>
                  <a:schemeClr val="dk1"/>
                </a:solidFill>
              </a:rPr>
            </a:br>
            <a:r>
              <a:rPr lang="en" sz="1850">
                <a:solidFill>
                  <a:schemeClr val="dk1"/>
                </a:solidFill>
              </a:rPr>
              <a:t> • Ghidra shows a weird XOR loop instead of readable output</a:t>
            </a:r>
            <a:endParaRPr sz="1850">
              <a:solidFill>
                <a:schemeClr val="dk1"/>
              </a:solidFill>
            </a:endParaRPr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Char char="●"/>
            </a:pPr>
            <a:r>
              <a:rPr lang="en" sz="1850">
                <a:solidFill>
                  <a:schemeClr val="dk1"/>
                </a:solidFill>
              </a:rPr>
              <a:t>This forces a reverser to understand my decoding logic.</a:t>
            </a:r>
            <a:endParaRPr sz="18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</p:txBody>
      </p:sp>
      <p:pic>
        <p:nvPicPr>
          <p:cNvPr id="225" name="Google Shape;225;p35" title="Screenshot 2025-12-03 at 3.57.46 PM.png"/>
          <p:cNvPicPr preferRelativeResize="0"/>
          <p:nvPr/>
        </p:nvPicPr>
        <p:blipFill rotWithShape="1">
          <a:blip r:embed="rId3">
            <a:alphaModFix/>
          </a:blip>
          <a:srcRect b="0" l="0" r="13472" t="21948"/>
          <a:stretch/>
        </p:blipFill>
        <p:spPr>
          <a:xfrm>
            <a:off x="4936675" y="1103600"/>
            <a:ext cx="4207325" cy="31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Technique 3: Password Transform Obfuscation</a:t>
            </a:r>
            <a:endParaRPr/>
          </a:p>
        </p:txBody>
      </p:sp>
      <p:sp>
        <p:nvSpPr>
          <p:cNvPr id="231" name="Google Shape;231;p36"/>
          <p:cNvSpPr txBox="1"/>
          <p:nvPr>
            <p:ph idx="1" type="body"/>
          </p:nvPr>
        </p:nvSpPr>
        <p:spPr>
          <a:xfrm>
            <a:off x="311700" y="1152475"/>
            <a:ext cx="5027400" cy="3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Third technique: hiding the password behind math</a:t>
            </a:r>
            <a:br>
              <a:rPr lang="en"/>
            </a:br>
            <a:r>
              <a:rPr lang="en"/>
              <a:t> • Instead of checking if input equals 0x52b23</a:t>
            </a:r>
            <a:br>
              <a:rPr lang="en"/>
            </a:br>
            <a:r>
              <a:rPr lang="en"/>
              <a:t> • I made a transform() function</a:t>
            </a:r>
            <a:br>
              <a:rPr lang="en"/>
            </a:br>
            <a:r>
              <a:rPr lang="en"/>
              <a:t> • It runs the input through XORs and additions</a:t>
            </a:r>
            <a:br>
              <a:rPr lang="en"/>
            </a:br>
            <a:r>
              <a:rPr lang="en"/>
              <a:t> • Only the real password makes transform(input) return 0</a:t>
            </a:r>
            <a:br>
              <a:rPr lang="en"/>
            </a:br>
            <a:r>
              <a:rPr lang="en"/>
              <a:t> • The real password value is never written in the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makes the logic harder to follow in Ghidra.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2" name="Google Shape;232;p36" title="Screenshot 2025-12-03 at 4.07.34 PM.png"/>
          <p:cNvPicPr preferRelativeResize="0"/>
          <p:nvPr/>
        </p:nvPicPr>
        <p:blipFill rotWithShape="1">
          <a:blip r:embed="rId3">
            <a:alphaModFix/>
          </a:blip>
          <a:srcRect b="0" l="0" r="16261" t="0"/>
          <a:stretch/>
        </p:blipFill>
        <p:spPr>
          <a:xfrm>
            <a:off x="5278025" y="1781525"/>
            <a:ext cx="3729850" cy="17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Technique 4: Using volatile to Prevent Optimization</a:t>
            </a:r>
            <a:endParaRPr/>
          </a:p>
        </p:txBody>
      </p:sp>
      <p:sp>
        <p:nvSpPr>
          <p:cNvPr id="238" name="Google Shape;238;p37"/>
          <p:cNvSpPr txBox="1"/>
          <p:nvPr>
            <p:ph idx="1" type="body"/>
          </p:nvPr>
        </p:nvSpPr>
        <p:spPr>
          <a:xfrm>
            <a:off x="311700" y="1152475"/>
            <a:ext cx="7629600" cy="3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4100" lvl="0" marL="457200" rtl="0" algn="l">
              <a:spcBef>
                <a:spcPts val="1200"/>
              </a:spcBef>
              <a:spcAft>
                <a:spcPts val="0"/>
              </a:spcAft>
              <a:buSzPts val="2134"/>
              <a:buChar char="●"/>
            </a:pPr>
            <a:r>
              <a:rPr lang="en" sz="2133"/>
              <a:t>Fourth technique: the volatile keyword</a:t>
            </a:r>
            <a:br>
              <a:rPr lang="en" sz="2133"/>
            </a:br>
            <a:r>
              <a:rPr lang="en" sz="2133"/>
              <a:t> • I made the XOR key volatile so GCC can’t optimize it</a:t>
            </a:r>
            <a:br>
              <a:rPr lang="en" sz="2133"/>
            </a:br>
            <a:r>
              <a:rPr lang="en" sz="2133"/>
              <a:t> • Without volatile the compiler might pre decode the strings</a:t>
            </a:r>
            <a:br>
              <a:rPr lang="en" sz="2133"/>
            </a:br>
            <a:r>
              <a:rPr lang="en" sz="2133"/>
              <a:t> • Volatile forces the XOR to happen only at runtime</a:t>
            </a:r>
            <a:br>
              <a:rPr lang="en" sz="2133"/>
            </a:br>
            <a:r>
              <a:rPr lang="en" sz="2133"/>
              <a:t> • This helps keep my messages hidden in the binary</a:t>
            </a:r>
            <a:endParaRPr sz="2133"/>
          </a:p>
          <a:p>
            <a:pPr indent="-364100" lvl="0" marL="457200" rtl="0" algn="l">
              <a:spcBef>
                <a:spcPts val="0"/>
              </a:spcBef>
              <a:spcAft>
                <a:spcPts val="0"/>
              </a:spcAft>
              <a:buSzPts val="2134"/>
              <a:buChar char="●"/>
            </a:pPr>
            <a:r>
              <a:rPr lang="en" sz="2133"/>
              <a:t>It’s a small trick but it matters for obfuscation.</a:t>
            </a:r>
            <a:endParaRPr sz="2133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9" name="Google Shape;239;p37" title="Screenshot 2025-12-03 at 4.10.0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1377" y="3762950"/>
            <a:ext cx="5907925" cy="81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Technique 5: Adding Noise Code</a:t>
            </a:r>
            <a:endParaRPr/>
          </a:p>
        </p:txBody>
      </p:sp>
      <p:sp>
        <p:nvSpPr>
          <p:cNvPr id="245" name="Google Shape;245;p38"/>
          <p:cNvSpPr txBox="1"/>
          <p:nvPr>
            <p:ph idx="1" type="body"/>
          </p:nvPr>
        </p:nvSpPr>
        <p:spPr>
          <a:xfrm>
            <a:off x="311700" y="1152475"/>
            <a:ext cx="4758600" cy="37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3200"/>
              <a:t>Fifth technique: noise in the code</a:t>
            </a:r>
            <a:br>
              <a:rPr lang="en" sz="3200"/>
            </a:br>
            <a:r>
              <a:rPr lang="en" sz="3200"/>
              <a:t> • I kept the original shift() function</a:t>
            </a:r>
            <a:br>
              <a:rPr lang="en" sz="3200"/>
            </a:br>
            <a:r>
              <a:rPr lang="en" sz="3200"/>
              <a:t> • It is not used anywhere</a:t>
            </a:r>
            <a:br>
              <a:rPr lang="en" sz="3200"/>
            </a:br>
            <a:r>
              <a:rPr lang="en" sz="3200"/>
              <a:t> • It just exists to confuse the decompiled output</a:t>
            </a:r>
            <a:br>
              <a:rPr lang="en" sz="3200"/>
            </a:br>
            <a:r>
              <a:rPr lang="en" sz="3200"/>
              <a:t> • Reverse engineers have to waste time checking if it matters</a:t>
            </a:r>
            <a:endParaRPr sz="32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200"/>
              <a:t>This helps make the program look more complex.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p38" title="Screenshot 2025-12-03 at 4.16.5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7009" y="773474"/>
            <a:ext cx="4074365" cy="374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Results: Strings Are Hidden</a:t>
            </a:r>
            <a:endParaRPr/>
          </a:p>
        </p:txBody>
      </p:sp>
      <p:sp>
        <p:nvSpPr>
          <p:cNvPr id="252" name="Google Shape;252;p39"/>
          <p:cNvSpPr txBox="1"/>
          <p:nvPr>
            <p:ph idx="1" type="body"/>
          </p:nvPr>
        </p:nvSpPr>
        <p:spPr>
          <a:xfrm>
            <a:off x="311700" y="1152475"/>
            <a:ext cx="500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hardening</a:t>
            </a:r>
            <a:br>
              <a:rPr lang="en"/>
            </a:br>
            <a:r>
              <a:rPr lang="en"/>
              <a:t> • The OK and FAIL messages do not show up in strings</a:t>
            </a:r>
            <a:br>
              <a:rPr lang="en"/>
            </a:br>
            <a:r>
              <a:rPr lang="en"/>
              <a:t> • The Defined Strings window in Ghidra does not show them either</a:t>
            </a:r>
            <a:br>
              <a:rPr lang="en"/>
            </a:br>
            <a:r>
              <a:rPr lang="en"/>
              <a:t> • Only the banner and input prompt are visible</a:t>
            </a:r>
            <a:br>
              <a:rPr lang="en"/>
            </a:br>
            <a:r>
              <a:rPr lang="en"/>
              <a:t> • This proves the obfuscation on the messages worked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one of the biggest improvements over the original.</a:t>
            </a:r>
            <a:endParaRPr/>
          </a:p>
        </p:txBody>
      </p:sp>
      <p:pic>
        <p:nvPicPr>
          <p:cNvPr id="253" name="Google Shape;253;p39" title="Screenshot 2025-12-03 at 4.19.4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4550" y="581150"/>
            <a:ext cx="3755599" cy="3755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Results: Strings Are Hidden</a:t>
            </a:r>
            <a:endParaRPr/>
          </a:p>
        </p:txBody>
      </p:sp>
      <p:sp>
        <p:nvSpPr>
          <p:cNvPr id="259" name="Google Shape;259;p40"/>
          <p:cNvSpPr txBox="1"/>
          <p:nvPr>
            <p:ph idx="1" type="body"/>
          </p:nvPr>
        </p:nvSpPr>
        <p:spPr>
          <a:xfrm>
            <a:off x="311700" y="1152475"/>
            <a:ext cx="500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hardening</a:t>
            </a:r>
            <a:br>
              <a:rPr lang="en"/>
            </a:br>
            <a:r>
              <a:rPr lang="en"/>
              <a:t> • The OK and FAIL messages do not show up in strings</a:t>
            </a:r>
            <a:br>
              <a:rPr lang="en"/>
            </a:br>
            <a:r>
              <a:rPr lang="en"/>
              <a:t> • The Defined Strings window in Ghidra does not show them either</a:t>
            </a:r>
            <a:br>
              <a:rPr lang="en"/>
            </a:br>
            <a:r>
              <a:rPr lang="en"/>
              <a:t> • Only the banner and input prompt are visible</a:t>
            </a:r>
            <a:br>
              <a:rPr lang="en"/>
            </a:br>
            <a:r>
              <a:rPr lang="en"/>
              <a:t> • This proves the obfuscation on the messages worked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one of the biggest improvements over the original.</a:t>
            </a:r>
            <a:endParaRPr/>
          </a:p>
        </p:txBody>
      </p:sp>
      <p:pic>
        <p:nvPicPr>
          <p:cNvPr id="260" name="Google Shape;260;p40" title="Screenshot 2025-12-03 at 4.19.4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4550" y="581150"/>
            <a:ext cx="3755599" cy="3755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Results: Decode Function in Ghidra</a:t>
            </a:r>
            <a:endParaRPr/>
          </a:p>
        </p:txBody>
      </p:sp>
      <p:sp>
        <p:nvSpPr>
          <p:cNvPr id="266" name="Google Shape;266;p41"/>
          <p:cNvSpPr txBox="1"/>
          <p:nvPr>
            <p:ph idx="1" type="body"/>
          </p:nvPr>
        </p:nvSpPr>
        <p:spPr>
          <a:xfrm>
            <a:off x="311700" y="1152475"/>
            <a:ext cx="490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Ghidra sees now</a:t>
            </a:r>
            <a:br>
              <a:rPr lang="en"/>
            </a:br>
            <a:r>
              <a:rPr lang="en"/>
              <a:t> • Instead of showing readable output text</a:t>
            </a:r>
            <a:br>
              <a:rPr lang="en"/>
            </a:br>
            <a:r>
              <a:rPr lang="en"/>
              <a:t> • It shows a long XOR loop</a:t>
            </a:r>
            <a:br>
              <a:rPr lang="en"/>
            </a:br>
            <a:r>
              <a:rPr lang="en"/>
              <a:t> • The decode function is messy and packed with operations</a:t>
            </a:r>
            <a:br>
              <a:rPr lang="en"/>
            </a:br>
            <a:r>
              <a:rPr lang="en"/>
              <a:t> • A reverser needs to manually track what the encoded bytes become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makes reversing slower and more annoying.</a:t>
            </a:r>
            <a:endParaRPr/>
          </a:p>
        </p:txBody>
      </p:sp>
      <p:pic>
        <p:nvPicPr>
          <p:cNvPr id="267" name="Google Shape;267;p41" title="Screenshot 2025-12-03 at 4.01.5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7950" y="661276"/>
            <a:ext cx="3341874" cy="4007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/>
              <a:t>Current Issue I'm Still Working 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2"/>
          <p:cNvSpPr txBox="1"/>
          <p:nvPr>
            <p:ph idx="1" type="body"/>
          </p:nvPr>
        </p:nvSpPr>
        <p:spPr>
          <a:xfrm>
            <a:off x="311700" y="1152475"/>
            <a:ext cx="490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Ghidra sees now</a:t>
            </a:r>
            <a:br>
              <a:rPr lang="en"/>
            </a:br>
            <a:r>
              <a:rPr lang="en"/>
              <a:t> • Instead of showing readable output text</a:t>
            </a:r>
            <a:br>
              <a:rPr lang="en"/>
            </a:br>
            <a:r>
              <a:rPr lang="en"/>
              <a:t> • It shows a long XOR loop</a:t>
            </a:r>
            <a:br>
              <a:rPr lang="en"/>
            </a:br>
            <a:r>
              <a:rPr lang="en"/>
              <a:t> • The decode function is messy and packed with operations</a:t>
            </a:r>
            <a:br>
              <a:rPr lang="en"/>
            </a:br>
            <a:r>
              <a:rPr lang="en"/>
              <a:t> • A reverser needs to manually track what the encoded bytes become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makes reversing slower and more annoying.</a:t>
            </a:r>
            <a:endParaRPr/>
          </a:p>
        </p:txBody>
      </p:sp>
      <p:pic>
        <p:nvPicPr>
          <p:cNvPr id="274" name="Google Shape;274;p42" title="Screenshot 2025-12-03 at 4.24.3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9100" y="1170125"/>
            <a:ext cx="3622499" cy="2405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Difficulty Rating</a:t>
            </a:r>
            <a:endParaRPr/>
          </a:p>
        </p:txBody>
      </p:sp>
      <p:sp>
        <p:nvSpPr>
          <p:cNvPr id="280" name="Google Shape;280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After hardening my CrackMe</a:t>
            </a:r>
            <a:br>
              <a:rPr lang="en"/>
            </a:br>
            <a:r>
              <a:rPr lang="en"/>
              <a:t> • It is definitely harder than the original</a:t>
            </a:r>
            <a:br>
              <a:rPr lang="en"/>
            </a:br>
            <a:r>
              <a:rPr lang="en"/>
              <a:t> • Strings are hidden</a:t>
            </a:r>
            <a:br>
              <a:rPr lang="en"/>
            </a:br>
            <a:r>
              <a:rPr lang="en"/>
              <a:t> • Logic is disguised</a:t>
            </a:r>
            <a:br>
              <a:rPr lang="en"/>
            </a:br>
            <a:r>
              <a:rPr lang="en"/>
              <a:t> • Password is meant to be obfuscated</a:t>
            </a:r>
            <a:br>
              <a:rPr lang="en"/>
            </a:br>
            <a:r>
              <a:rPr lang="en"/>
              <a:t> • Noise code adds confusion</a:t>
            </a:r>
            <a:br>
              <a:rPr lang="en"/>
            </a:br>
            <a:r>
              <a:rPr lang="en"/>
              <a:t> • I would rate the difficulty as medium for a beginner reverser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is a big improvement over the baseline.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86" name="Google Shape;286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project we learned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How easy it is to reverse a normal binary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How to use Ghidra to inspect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How to remove obvious vulnerabilities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How to encode and decode strings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How to hide logic behind transformations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• And how much work it takes to harden even a small program</a:t>
            </a:r>
            <a:endParaRPr/>
          </a:p>
        </p:txBody>
      </p:sp>
      <p:pic>
        <p:nvPicPr>
          <p:cNvPr id="287" name="Google Shape;28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1775" y="-2"/>
            <a:ext cx="4182225" cy="283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